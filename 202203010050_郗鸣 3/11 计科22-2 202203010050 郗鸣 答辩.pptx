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7.svg" ContentType="image/svg+xml"/>
  <Override PartName="/ppt/media/image75.svg" ContentType="image/svg+xml"/>
  <Override PartName="/ppt/media/image78.svg" ContentType="image/svg+xml"/>
  <Override PartName="/ppt/media/image84.svg" ContentType="image/svg+xml"/>
  <Override PartName="/ppt/media/image86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9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9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计算机科学与技术专业的郗鸣，我的毕业设计题目是《基于Next.js的全栈网上书店管理系统的设计与实现》。在吕国华教授的悉心指导下，我完成了本次设计。接下来，我将从研究背景、系统设计、实现与测试等几个方面，向各位老师汇报我的研究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以下十个部分展开：首先是研究背景与意义，阐述为何选择此课题；其次是国内外研究现状，分析当前技术发展水平；接着是研究内容与目标，明确本设计的核心任务；之后是系统的需求分析、总体设计、数据库设计和安全设计；然后是系统的实现与测试环节；最后是总结与展望，并对所有帮助过我的人表示感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研究背景。随着互联网的普及，线上购书已成为主流消费方式。然而，传统的网上书店系统存在诸多痛点。例如，前后端分离架构虽然流行，但带来了接口管理复杂、协作成本高的问题；而单页应用（SPA）虽然交互流畅，但在首屏加载速度和SEO方面存在天然缺陷。为了解决这些问题，以Next.js为代表的全栈框架应运而生，它通过服务器端渲染等技术，为我们提供了新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本研究具有多重意义。在技术层面，它探索了如何利用Next.js这样的全栈框架来平衡性能与开发效率。在应用层面，我们开发的系统可以为中小型电商提供一个高效、易用的技术范本。对我个人而言，这次设计也是一次深入学习现代Web全栈开发技术的宝贵实践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接下来，我们看一下国内外的研究现状。国外在技术上更为前沿，广泛采用微服务和全栈框架，尤其在工程化和性能优化方面积累了丰富经验。相比之下，国内主流技术栈仍以传统的Java Web或前后端分离为主，虽然稳定，但也面临着开发效率和性能的瓶颈。因此，本研究的切入点正是利用Next.js这样的新兴全栈框架，尝试解决这些共同的痛点。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，本研究的主要内容包括四个方面：首先是系统需求分析，明确要做什么；其次是系统设计，包括架构、模块和数据库设计；然后是系统实现，编码实现所有功能；最后是系统测试，确保系统稳定可靠。具体的研究目标是实现完整的用户购书流程和后台管理功能，同时通过技术选型提高开发效率并保证系统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设计前，我们进行了全面的需求分析。可行性分析表明，项目在技术、经济和操作上都是可行的。技术上，我们选用的都是成熟且活跃的开源技术；经济上，成本低廉；操作上，界面友好。功能需求方面，我们详细梳理了用户端和管理员端的各项功能，确保覆盖核心业务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梳理出的核心业务流程。左侧是用户的购书流程，从登录到最终完成订单，形成一个完整的闭环。右侧是管理员的后台管理流程，涵盖了对图书、订单和用户的全面管理。右侧的用例图更直观地展示了这些功能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进入系统设计阶段。我们的系统采用B/S模式，技术架构上，前端和后端均基于Next.js框架，实现了真正的全栈一体化。前端使用React和App Router，后端通过Route Handlers构建API，数据层采用MySQL和Prisma ORM。右侧的架构图清晰地展示了从表示层到数据层的完整分层结构。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系统的功能模块设计。整个系统分为用户端和管理员端两大模块。用户端包含账号认证、图书浏览、购物车、订单等核心功能；管理员端则提供了图书管理、订单管理、用户管理和数据统计等后台功能。这种模块化的设计保证了系统的清晰性和可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系统的基石。我们首先进行了概念结构设计，定义了用户、图书、订单等核心实体及其之间的关系。在此基础上，我们设计了详细的逻辑结构，也就是数据库表。例如，用户表、图书表、订单表等，通过合理的字段设计和约束，保证了数据的完整性和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安全是重中之重。我们从多个层面进行了设计：采用JWT进行身份认证，使用bcrypt加密存储密码，基于角色进行权限控制，并通过React的特性和安全请求头来防御XSS等常见Web攻击。这些措施共同构成了系统的安全保障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接下来是系统的实现与测试部分。我们的开发环境基于macOS，使用VSCode作为编辑器。核心技术栈包括Next.js 14、React 18、Redux Toolkit用于状态管理，Prisma作为ORM工具操作MySQL数据库，并使用pnpm作为包管理器。这些工具的组合保证了开发的高效和项目的现代化。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实现后，我们进行了全面的测试。功能测试覆盖了所有核心业务流程，结果显示功能正常。接口测试验证了API的健壮性。安全测试则针对未授权访问和XSS注入等常见攻击手段进行了验证，系统表现出良好的防御能力。整体测试结果表明，系统达到了预期的设计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研究进行总结与展望。通过本次设计，我们成功实现了一个功能完整的全栈网上书店系统。采用Next.js全栈模式，显著提升了开发效率。系统架构合理，模块化程度高，为未来的迭代打下了良好基础。数据库设计也遵循了规范，保证了数据的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系统仍有可以改进的地方。未来，我们可以集成真实的支付接口，引入个性化推荐算法来提升用户体验，并通过引入缓存、消息队列等技术进一步优化系统性能，以应对更大的并发压力。同时，安全防护也可以继续深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在此，我要向我的导师吕国华教授，以及所有教导过我的老师、帮助过我的同学和支持我的家人，表达最诚挚的感谢。没有你们的帮助，我无法顺利完成这次毕业设计。谢谢大家！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我的汇报到此结束，感谢各位评委老师的聆听，恳请各位老师批评指正。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2.svg"/><Relationship Id="rId12" Type="http://schemas.openxmlformats.org/officeDocument/2006/relationships/image" Target="../media/image31.png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27.svg"/><Relationship Id="rId4" Type="http://schemas.openxmlformats.org/officeDocument/2006/relationships/image" Target="../media/image35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0.svg"/><Relationship Id="rId14" Type="http://schemas.openxmlformats.org/officeDocument/2006/relationships/image" Target="../media/image44.png"/><Relationship Id="rId13" Type="http://schemas.openxmlformats.org/officeDocument/2006/relationships/image" Target="../media/image43.svg"/><Relationship Id="rId12" Type="http://schemas.openxmlformats.org/officeDocument/2006/relationships/image" Target="../media/image42.png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5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43.svg"/><Relationship Id="rId3" Type="http://schemas.openxmlformats.org/officeDocument/2006/relationships/image" Target="../media/image45.png"/><Relationship Id="rId2" Type="http://schemas.openxmlformats.org/officeDocument/2006/relationships/image" Target="../media/image54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65.png"/><Relationship Id="rId7" Type="http://schemas.openxmlformats.org/officeDocument/2006/relationships/image" Target="../media/image30.svg"/><Relationship Id="rId6" Type="http://schemas.openxmlformats.org/officeDocument/2006/relationships/image" Target="../media/image44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72.jpeg"/><Relationship Id="rId15" Type="http://schemas.openxmlformats.org/officeDocument/2006/relationships/image" Target="../media/image71.jpeg"/><Relationship Id="rId14" Type="http://schemas.openxmlformats.org/officeDocument/2006/relationships/image" Target="../media/image70.jpeg"/><Relationship Id="rId13" Type="http://schemas.openxmlformats.org/officeDocument/2006/relationships/image" Target="../media/image69.jpeg"/><Relationship Id="rId12" Type="http://schemas.openxmlformats.org/officeDocument/2006/relationships/image" Target="../media/image68.jpeg"/><Relationship Id="rId11" Type="http://schemas.openxmlformats.org/officeDocument/2006/relationships/image" Target="../media/image67.svg"/><Relationship Id="rId10" Type="http://schemas.openxmlformats.org/officeDocument/2006/relationships/image" Target="../media/image66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svg"/><Relationship Id="rId8" Type="http://schemas.openxmlformats.org/officeDocument/2006/relationships/image" Target="../media/image77.png"/><Relationship Id="rId7" Type="http://schemas.openxmlformats.org/officeDocument/2006/relationships/image" Target="../media/image11.svg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3" Type="http://schemas.openxmlformats.org/officeDocument/2006/relationships/image" Target="../media/image47.svg"/><Relationship Id="rId2" Type="http://schemas.openxmlformats.org/officeDocument/2006/relationships/image" Target="../media/image73.png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84.svg"/><Relationship Id="rId15" Type="http://schemas.openxmlformats.org/officeDocument/2006/relationships/image" Target="../media/image83.png"/><Relationship Id="rId14" Type="http://schemas.openxmlformats.org/officeDocument/2006/relationships/image" Target="../media/image82.jpeg"/><Relationship Id="rId13" Type="http://schemas.openxmlformats.org/officeDocument/2006/relationships/image" Target="../media/image81.jpeg"/><Relationship Id="rId12" Type="http://schemas.openxmlformats.org/officeDocument/2006/relationships/image" Target="../media/image80.jpeg"/><Relationship Id="rId11" Type="http://schemas.openxmlformats.org/officeDocument/2006/relationships/image" Target="../media/image70.jpeg"/><Relationship Id="rId10" Type="http://schemas.openxmlformats.org/officeDocument/2006/relationships/image" Target="../media/image79.jpe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2.svg"/><Relationship Id="rId6" Type="http://schemas.openxmlformats.org/officeDocument/2006/relationships/image" Target="../media/image88.png"/><Relationship Id="rId5" Type="http://schemas.openxmlformats.org/officeDocument/2006/relationships/image" Target="../media/image49.svg"/><Relationship Id="rId4" Type="http://schemas.openxmlformats.org/officeDocument/2006/relationships/image" Target="../media/image87.pn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svg"/><Relationship Id="rId8" Type="http://schemas.openxmlformats.org/officeDocument/2006/relationships/image" Target="../media/image90.png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11.svg"/><Relationship Id="rId4" Type="http://schemas.openxmlformats.org/officeDocument/2006/relationships/image" Target="../media/image76.png"/><Relationship Id="rId3" Type="http://schemas.openxmlformats.org/officeDocument/2006/relationships/image" Target="../media/image13.svg"/><Relationship Id="rId2" Type="http://schemas.openxmlformats.org/officeDocument/2006/relationships/image" Target="../media/image89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88.png"/><Relationship Id="rId7" Type="http://schemas.openxmlformats.org/officeDocument/2006/relationships/image" Target="../media/image97.svg"/><Relationship Id="rId6" Type="http://schemas.openxmlformats.org/officeDocument/2006/relationships/image" Target="../media/image96.png"/><Relationship Id="rId5" Type="http://schemas.openxmlformats.org/officeDocument/2006/relationships/image" Target="../media/image95.svg"/><Relationship Id="rId4" Type="http://schemas.openxmlformats.org/officeDocument/2006/relationships/image" Target="../media/image94.png"/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8.jpe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svg"/><Relationship Id="rId8" Type="http://schemas.openxmlformats.org/officeDocument/2006/relationships/image" Target="../media/image105.png"/><Relationship Id="rId7" Type="http://schemas.openxmlformats.org/officeDocument/2006/relationships/image" Target="../media/image104.svg"/><Relationship Id="rId6" Type="http://schemas.openxmlformats.org/officeDocument/2006/relationships/image" Target="../media/image103.png"/><Relationship Id="rId5" Type="http://schemas.openxmlformats.org/officeDocument/2006/relationships/image" Target="../media/image102.svg"/><Relationship Id="rId4" Type="http://schemas.openxmlformats.org/officeDocument/2006/relationships/image" Target="../media/image101.png"/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781" b="781"/>
          <a:stretch>
            <a:fillRect/>
          </a:stretch>
        </p:blipFill>
        <p:spPr>
          <a:xfrm>
            <a:off x="1016000" y="508000"/>
            <a:ext cx="17780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016000" y="1905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基于Next.js的全栈网上书店管理系统的设计与实现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488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508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4826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郗鸣</a:t>
            </a:r>
            <a:r>
              <a:rPr lang="en-US" sz="1600" b="0" i="0" u="none" strike="noStrike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 |  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吕国华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4699000"/>
            <a:ext cx="488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4699000"/>
            <a:ext cx="508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4826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专业班级：计算机科学与技术22-2班    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学号：202203010050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答辩日期：2026年6月4日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19558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31254">
            <a:off x="1460500" y="23178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905000" y="19812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从实际应用场景出发，深入探讨课题的选题背景，阐述研究工作的理论与实践价值。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29591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29591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0099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31254">
            <a:off x="1460500" y="33719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905000" y="30353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国内外研究现状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梳理当前领域的国内外发展动态，分析现有研究成果的优势与不足，明确研究切入点。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0132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0132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064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31254">
            <a:off x="1460500" y="44260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905000" y="40894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研究内容与目标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界定本研究的核心内容范围，制定清晰、可量化的研究目标，规划整体技术路线。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0673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0673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1181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31254">
            <a:off x="1460500" y="54801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905000" y="5143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系统需求分析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开展可行性分析，梳理业务流程，明确系统的功能需求与非功能需求，为设计提供依据。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1905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19050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67500" y="19558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31254">
            <a:off x="7175500" y="23178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20000" y="19812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进行系统架构设计，划分核心功能模块，确定模块间的交互关系与数据流转逻辑。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477000" y="29591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29591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67500" y="30099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31254">
            <a:off x="7175500" y="33719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620000" y="30353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完成数据库概念结构设计，转化为逻辑结构，定义数据表、字段及关联关系，保障数据完整性。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77000" y="40132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477000" y="40132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667500" y="4064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31254">
            <a:off x="7175500" y="44260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620000" y="40894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系统安全设计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构建多层次安全防护体系，涵盖数据加密、用户认证、权限管理等核心安全机制设计。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477000" y="50673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477000" y="5067300"/>
            <a:ext cx="76200" cy="8636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667500" y="51181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5331254">
            <a:off x="7175500" y="54801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7620000" y="5143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实现测试 · 总结展望 · 致谢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完成系统功能开发与全面测试，总结研究成果并展望未来优化方向，感谢指导与帮助。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研究背景与意义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2159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线上购书已成主流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11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随着电子商务与移动互联网技术的飞速发展，数字化阅读和在线购书凭借便捷性、可选范围广等优势，已逐步取代线下门店，成为大众获取书籍与知识的核心渠道。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159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2159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传统架构的核心痛点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211">
            <a:off x="46482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48200" y="3048000"/>
            <a:ext cx="28702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协作与性能双重瓶颈：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前后端分离导致接口管理复杂、开发周期长；SPA架构虽交互流畅，但首屏加载慢，且不利于搜索引擎抓取(SEO)，同时功能耦合度高，后期维护迭代成本高昂。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264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159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64600" y="2159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Next.js 全栈新解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11">
            <a:off x="82804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80400" y="3048000"/>
            <a:ext cx="28702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SSR与SSG赋能体验升级：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基于React的全栈框架Next.js，通过服务器端渲染(SSR)提升首屏速度，静态站点生成(SSG)优化SEO表现，同时以一体化架构简化开发流程，有效解决传统方案的痛点。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762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5816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本研究旨在基于Next.js构建高性能、易维护的现代网上书店系统，兼顾用户体验与商业价值，探索全栈框架在垂直领域的最佳实践。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研究背景与意义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413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技术实践意义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探索利用服务端渲染技术和统一全栈框架（Next.js），有效解决传统Web应用在首屏加载性能、SEO优化与开发流程复杂性之间的核心冲突，提升系统整体工程化水平。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95900" y="2413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应用价值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429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构建功能完整、体验流畅且易于维护的网上书店系统，为中小型电商项目的技术选型与落地实施，提供一套兼顾成本与效率的可行性方案，具有实际推广参考价值。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40800" y="2413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学习价值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429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通过全流程开发实践，深度掌握React组件化设计、全局状态管理、API路由配置、数据库交互逻辑及系统安全防护等现代Web全栈开发的关键核心技术与最佳实践。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90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本研究以“技术赋能应用，实践深化认知”为核心，旨在通过理论与实践的结合，探索高性能电商系统的构建路径。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国内外研究现状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30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国外：技术体系成熟化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30500"/>
            <a:ext cx="3048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技术趋势：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较早采用分布式、微服务化理念，注重模块解耦和数据驱动的个性化推荐，架构灵活性强。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广泛应用React组件化框架及Next.js全栈方案，通过SSR/SSG有效优化首屏性能与SEO表现。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968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16500" y="1930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国内：技术转型探索期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730500"/>
            <a:ext cx="3048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主流模式：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仍以传统SSM框架或基础前后端分离为主，技术选型偏向保守，迭代效率和维护成本面临挑战。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新兴探索：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Next.js等全栈框架开始进入视野，但在图书电商垂直领域的落地应用与深度研究仍较为匮乏。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968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1930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共性痛点与行业机遇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191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91500" y="2730500"/>
            <a:ext cx="3048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现存瓶颈：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开发协作成本高、首屏加载慢、SEO不友好是国内外图书电商Web系统面临的共同技术痛点。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发展方向：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Web工程正朝着集约化、全栈化方向演进，为解决传统架构弊端提供了新的技术路径。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本研究切入点：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以Next.js全栈框架为核心，整合前后端开发流程，利用SSR/SSG技术解决首屏性能与SEO痛点，探索其在图书电商领域的最佳实践方案。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研究内容与目标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177">
            <a:off x="3873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主要研究内容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814">
            <a:off x="762008" y="2216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540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667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系统需求分析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深入梳理网上书店全业务流程，精准拆解用户端的浏览、购书需求与管理员端的后台管控需求，明确系统功能边界。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000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937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系统架构与模块设计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采用Next.js全栈框架搭建前后端一体化架构，规划用户认证、图书展示、订单管理等核心模块，设计MySQL数据表与Prisma ORM数据层。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207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系统实现与全面测试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开发双端功能并集成JWT权限控制；对系统功能、API接口及数据安全进行多维度测试，确保系统稳定、安全、易用。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6510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具体研究目标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814">
            <a:off x="6477008" y="2216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2540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2730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75500" y="2667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构建完整用户购书链路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打通“图书浏览-精准搜索-加入购物车-下单支付-订单查询”全流程，为用户提供流畅、便捷的在线购书体验。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7000" y="3810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000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75500" y="3937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完善后台全维管理功能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实现管理员对图书信息、订单状态、用户数据及销售报表的一站式管理，提升运营效率与数据掌控能力。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5080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5270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75500" y="5207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提升开发效率并保障安全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通过全栈一体化开发降低维护成本；运用JWT认证、数据加密等技术，筑牢用户隐私与系统数据的安全防线。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系统需求分析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2705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447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0193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多维度可行性评估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210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073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0226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技术可行性：成熟可靠，生态完善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选用Next.js 14、React 18、Prisma ORM等主流技术栈，文档齐全、社区活跃，能有效降低开发风险，保障系统稳定性与可维护性。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52500" y="4127500"/>
            <a:ext cx="23749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2799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254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经济可行性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全栈开源技术框架大幅降低开发成本；B/S架构部署便捷，服务器与维护成本可控，具备极高的投入产出比。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54400" y="4127500"/>
            <a:ext cx="2387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81400" y="42799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962400" y="4254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操作可行性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遵循用户体验设计原则，界面简洁直观；采用响应式布局兼容多端设备，用户与管理员均可快速上手，学习成本极低。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89582">
            <a:off x="41529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1905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1905000"/>
            <a:ext cx="52705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0447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20193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全角色功能场景规划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29210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3073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3022600"/>
            <a:ext cx="4191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用户端：全流程自助服务闭环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提供账号注册与管理、图书分类浏览与精准搜索、购物车加购结算、订单状态追踪及个人信息与收藏管理等核心功能，打造流畅的一站式阅读消费体验。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604000" y="4699000"/>
            <a:ext cx="488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1000" y="48514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75500" y="48006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管理员端：智能化后台管控体系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实现管理员权限登录、图书上下架与信息维护、库存与价格动态调整、全量订单处理、用户信息管理及多维度销售数据统计分析功能。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系统需求分析：业务流程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842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30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905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用户购书业务闭环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185">
            <a:off x="1016008" y="2406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03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用户完成注册或登录后，可浏览或搜索图书资源，将心仪图书添加至购物车；确认订单信息与收货地址无误后，进行模拟支付操作，最终可实时查看订单状态，形成完整的购书操作链路。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842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43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31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管理员后台管理体系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185">
            <a:off x="1016008" y="4819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5016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管理员登录系统后，可执行图书全生命周期管理（增删改查），处理并更新订单状态；同时对用户信息进行维护，并可查看多维度的销售统计报表，实现平台运营的全面管控。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316">
            <a:off x="4730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459345" y="1778000"/>
            <a:ext cx="3863975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用户端功能视图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清晰展示用户核心操作节点，从基础的账户管理，到图书检索、交易支付及个人信息维护，各功能模块逻辑关联紧密，符合用户自然操作习惯。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0417">
            <a:off x="7239010" y="4057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566025" y="4191000"/>
            <a:ext cx="3863975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管理员端功能视图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以数据与权限为核心，构建了图书、订单、用户三大管理模块，并集成销售统计分析功能，为平台运营决策提供数据支撑，确保系统稳健运行。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5895" y="15875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系统总体设计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903585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1065022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B/S 架构模式选型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系统采用经典的浏览器/服务器（Browser/Server）模式，无需客户端安装，通过Web浏览器即可访问，大幅降低部署与维护成本，提升系统的易用性与可扩展性。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073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048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一体化前端构建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Next.js 14 与 React 18，采用 App Router 统一管理页面路由，实现服务端渲染与客户端交互的完美融合。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746500" y="2921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8900" y="3073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18000" y="3048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轻量级后端服务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Next.js Route Handlers 构建高效 RESTful API，处理核心业务逻辑，实现前后端同构开发，简化工程配置。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24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4699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数据持久化方案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MySQL 数据库结合 Prisma ORM 进行数据建模与访问；Redux Toolkit 统一管理全局状态，确保数据流转的一致性。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46500" y="4572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8900" y="4724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18000" y="4699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无状态身份认证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JWT (JSON Web Token) 机制，实现分布式系统的无状态身份验证，保障用户登录、权限校验的安全与高效。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175500" y="2921000"/>
            <a:ext cx="4191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214870" y="3122295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系统整体采用分层架构设计，涵盖表示层、业务逻辑层、数据访问层及安全保障层，各层职责明确，耦合度低，易于维护和扩展。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系统总体设计：功能模块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8" b="8"/>
          <a:stretch>
            <a:fillRect/>
          </a:stretch>
        </p:blipFill>
        <p:spPr>
          <a:xfrm>
            <a:off x="762000" y="1651000"/>
            <a:ext cx="5334000" cy="327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604000" y="1651000"/>
            <a:ext cx="4826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45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02500" y="180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用户端：全链路服务体验闭环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6794509" y="2343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794500" y="2476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覆盖账号认证、图书浏览选购、购物车管理、订单支付与查询及个人中心，打造流畅、便捷的用户自助服务流程。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3492500"/>
            <a:ext cx="4826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368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3644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管理员端：智能化后台管控体系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822">
            <a:off x="6794509" y="4184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794500" y="4318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集成图书、库存、订单全生命周期管理，结合用户权限配置与多维度数据统计展示，实现高效、可视化的系统运维。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76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79500" y="5588000"/>
            <a:ext cx="1009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采用模块化分层设计，实现用户端与管理员端逻辑解耦，保障系统高内聚、低耦合的架构特性，为后续功能迭代与业务扩展提供坚实基础。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数据库设计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30400"/>
            <a:ext cx="425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概念结构设计 (E-R模型)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核心实体定义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确立用户、图书、分类、购物车、订单、订单详情、地址七大核心实体，覆盖系统全流程业务对象，构建稳固的概念模型基础。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167">
            <a:off x="1016008" y="399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191000"/>
            <a:ext cx="476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关键关联关系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明确“一对多”核心关联：用户与地址/购物车/订单、分类与图书、订单与订单详情均为一对多映射关系，通过外键约束确保数据关联的完整性与一致性。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595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595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96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1930400"/>
            <a:ext cx="425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逻辑结构设计 (关键表结构)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4135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2794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基础信息核心表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用户表存储身份与权限信息，图书表记录商品核心属性与库存状态，分类表实现图书的层级化管理，三表联动支撑系统基础数据的存储与展示。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167">
            <a:off x="6413508" y="399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4191000"/>
            <a:ext cx="476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业务流转关键表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购物车表临时缓存用户选购商品；订单表固化交易核心信息，订单详情表存储商品交易快照，配合地址信息，完整记录从选购到下单的全业务数据链路。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9000" y="609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设计总结：通过规范化的E-R模型抽象与严谨的表结构设计，确保了数据的独立性、完整性与扩展性，为系统稳定运行提供坚实数据支撑。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07 系统安全设计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JWT 身份认证机制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566">
            <a:off x="952513" y="2279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413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用户登录后，服务器生成JWT并存储于HttpOnly Cookie中，有效避免XSS窃取，实现服务端无状态的高效会话管理。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651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29200" y="1803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密码加密存储机制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566">
            <a:off x="4584713" y="2279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84700" y="2413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采用bcrypt自适应哈希算法，对用户密码进行随机加盐处理后存储，大幅提升暴力破解难度，从根本上保障用户核心数据安全。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651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9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61400" y="1803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基于角色的权限控制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566">
            <a:off x="8216913" y="2279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16900" y="2413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严格区分USER与ADMIN角色权限，在路由守卫与接口服务层实施双重校验，从系统架构层面杜绝非法越权访问行为。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810000"/>
            <a:ext cx="5245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3962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XSS 跨站脚本攻击防护体系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975">
            <a:off x="952508" y="4438650"/>
            <a:ext cx="486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4572000"/>
            <a:ext cx="4864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利用React框架默认的HTML转义特性过滤非法字符，同时启用严格的CSP内容安全策略，有效阻断内联脚本执行，全方位防御存储型与反射型XSS攻击。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1100" y="3810000"/>
            <a:ext cx="5245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1600" y="4000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96100" y="39624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安全请求头与跨域访问边界控制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975">
            <a:off x="6451608" y="4438650"/>
            <a:ext cx="486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51600" y="4572000"/>
            <a:ext cx="4864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精细化配置CORS策略，严格限制跨域请求来源，构建可靠的网络访问边界。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4092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762000" y="58674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1460500" y="58674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JWT Token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无状态身份凭证核心</a:t>
            </a:r>
            <a:endParaRPr lang="en-US" sz="10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/>
          <a:srcRect l="18766" r="18766"/>
          <a:stretch>
            <a:fillRect/>
          </a:stretch>
        </p:blipFill>
        <p:spPr>
          <a:xfrm>
            <a:off x="3238500" y="58674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3" name="AutoShape 33"/>
          <p:cNvSpPr/>
          <p:nvPr/>
        </p:nvSpPr>
        <p:spPr>
          <a:xfrm>
            <a:off x="3937000" y="58674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bcrypt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高强度密码哈希算法</a:t>
            </a:r>
            <a:endParaRPr lang="en-US" sz="10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5524500" y="58674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5" name="AutoShape 35"/>
          <p:cNvSpPr/>
          <p:nvPr/>
        </p:nvSpPr>
        <p:spPr>
          <a:xfrm>
            <a:off x="6223000" y="58674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React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前端安全渲染保障</a:t>
            </a:r>
            <a:endParaRPr lang="en-US" sz="10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7810500" y="58674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7" name="AutoShape 37"/>
          <p:cNvSpPr/>
          <p:nvPr/>
        </p:nvSpPr>
        <p:spPr>
          <a:xfrm>
            <a:off x="8445500" y="5867400"/>
            <a:ext cx="146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VS Code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集成安全开发环境</a:t>
            </a:r>
            <a:endParaRPr lang="en-US" sz="10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6"/>
          <a:srcRect t="1105" b="1105"/>
          <a:stretch>
            <a:fillRect/>
          </a:stretch>
        </p:blipFill>
        <p:spPr>
          <a:xfrm>
            <a:off x="9906000" y="58674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9" name="AutoShape 39"/>
          <p:cNvSpPr/>
          <p:nvPr/>
        </p:nvSpPr>
        <p:spPr>
          <a:xfrm>
            <a:off x="10541000" y="586740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Node.js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后端安全服务支撑</a:t>
            </a:r>
            <a:endParaRPr lang="en-US" sz="10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08 系统实现与测试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52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操作系统：macOS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基于Unix内核的图形化操作系统，为前端开发提供了稳定、安全且高效的运行环境，完美兼容各类开源工具链。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11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022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开发工具：VSCode + Node.js (v18+)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选用轻量且功能强大的VSCode作为主力编辑器，配合长期支持版Node.js，确保了代码编写、调试与运行的流畅性。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254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165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核心依赖：Next.js / React / Redux / Prisma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采用Next.js 14做服务端渲染，React 18构建UI，Redux Toolkit管理全局状态，Prisma作为ORM高效操作数据库。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9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3086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包管理器：pnpm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利用硬链接和符号链接技术，大幅节省磁盘空间，同时提升依赖包的安装速度，优化了团队协作的开发体验。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90581">
            <a:off x="4159250" y="3962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731000" y="1778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382000" y="1778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 l="4811" r="4811"/>
          <a:stretch>
            <a:fillRect/>
          </a:stretch>
        </p:blipFill>
        <p:spPr>
          <a:xfrm>
            <a:off x="9969500" y="1778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731000" y="3429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Next.js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全栈开发框架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382000" y="3429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React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UI组件库核心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969500" y="3429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Redux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全局状态管理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9046">
            <a:off x="6731008" y="431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rcRect l="28009" r="28009"/>
          <a:stretch>
            <a:fillRect/>
          </a:stretch>
        </p:blipFill>
        <p:spPr>
          <a:xfrm>
            <a:off x="6731000" y="4572000"/>
            <a:ext cx="1524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rcRect l="5555" r="5555"/>
          <a:stretch>
            <a:fillRect/>
          </a:stretch>
        </p:blipFill>
        <p:spPr>
          <a:xfrm>
            <a:off x="8382000" y="4572000"/>
            <a:ext cx="1524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9969500" y="4572000"/>
            <a:ext cx="15240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14000" y="4762500"/>
            <a:ext cx="635000" cy="635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731000" y="5842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Prisma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数据库ORM工具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82000" y="5842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MySQL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关系型数据库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969500" y="5842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pnpm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高效包管理器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08 系统实现与测试：测试结果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2362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功能测试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覆盖全核心流程：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测试覆盖用户注册登录、图书检索、购物车管理及订单全生命周期流程，确保业务链路闭环通畅。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所有功能模块均可正确响应，无逻辑错误，用户交互流程符合预期设计。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41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56200" y="2387600"/>
            <a:ext cx="2362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接口测试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429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全维度API校验：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利用Postman对所有接口进行请求方式、参数完整性、边界值及错误处理场景的全覆盖测试。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接口响应稳定，合法请求处理无误，对非法参数与异常请求均能返回规范的提示信息。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264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413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88400" y="2387600"/>
            <a:ext cx="2362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安全测试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80400" y="3429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攻防场景模拟：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开展JWT未授权访问、非法请求越权及XSS跨站脚本注入等针对性安全渗透测试。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验证结果：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系统成功拦截各类非法访问与注入攻击，权限控制严密，具备良好的鲁棒性与安全防御能力。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90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综合测试表明，系统在功能完整性、接口健壮性与安全防护能力上均达到了预期设计目标，为正式上线提供了坚实保障。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09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222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全栈系统功能落地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444">
            <a:off x="1092209" y="2851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92200" y="3048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成功构建基于Next.js的全栈网上书店管理系统，完整覆盖用户浏览购买与管理员后台管理的核心业务场景，实现了端到端的功能闭环。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2032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2222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高效全栈开发流程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444">
            <a:off x="6553209" y="2851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553200" y="3048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采用一体化全栈开发模式，有效打通前后端开发链路，减少了接口协调成本，大幅提升了系统的整体开发效率与后期维护的便捷性。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381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381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572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457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模块化高扩展架构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444">
            <a:off x="1092209" y="520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92200" y="5334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系统遵循模块化设计思想，各功能模块解耦独立，具备清晰的层次结构，能够灵活适配业务迭代需求，为未来功能拓展提供了稳定的架构基础。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381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23000" y="43815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200" y="4572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39000" y="457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规范化数据治理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444">
            <a:off x="6553209" y="520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553200" y="5334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数据库设计严格遵循范式规范，通过合理的表结构与关联关系，有效保障了数据存储的一致性与完整性，为业务数据的安全和准确提供了坚实保障。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09 总结与展望：未来工作展望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集成真实支付接口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78">
            <a:off x="952514" y="2533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667000"/>
            <a:ext cx="285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对接支付宝、微信支付等主流第三方支付平台，打通资金流转环节，完成从下单到结算的完整交易闭环，提升商业实用性。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254500" y="1778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254500" y="1778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50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95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引入个性化推荐算法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78">
            <a:off x="4445014" y="2533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445000" y="2667000"/>
            <a:ext cx="285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基于用户历史行为与偏好数据，实现协同过滤与智能推荐模型，精准推送内容与服务，大幅提升用户留存率与使用体验。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21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系统性能深度优化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78">
            <a:off x="952514" y="4819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52500" y="4953000"/>
            <a:ext cx="285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引入Redis缓存层、优化数据库索引策略，并部署消息队列削峰填谷，重构核心链路，从容应对高并发访问的业务挑战。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254500" y="4064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254500" y="4064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5000" y="4254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889500" y="4216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深化全链路安全防护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5278">
            <a:off x="4445014" y="4819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445000" y="4953000"/>
            <a:ext cx="285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建立严格的接口鉴权与请求合法性校验机制，完善数据脱敏流程，有效防范SQL注入、XSS跨站等深层次Web安全攻击。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rcRect l="9106" r="9106"/>
          <a:stretch>
            <a:fillRect/>
          </a:stretch>
        </p:blipFill>
        <p:spPr>
          <a:xfrm>
            <a:off x="7874000" y="2032000"/>
            <a:ext cx="3556000" cy="29210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7874000" y="5207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001000" y="53340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依托高性能基础设施架构，构建稳定、高效、安全的技术底座，为业务的持续迭代与规模化发展提供坚实支撑。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感念师恩，指引方向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衷心感谢导师吕国华教授，在论文选题、系统设计与撰写过程中给予的悉心指导与不倦教诲，您严谨的治学态度和深厚的学术素养为我树立了榜样，指引我攻克难关、完成研究。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22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184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传道授业，夯实根基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感谢学院各位老师在大学期间的悉心培养与传道授业，是你们的渊博学识与无私分享，为我构建了扎实的专业知识体系，为本课题的研究打下了不可或缺的理论基础。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切磋琢磨，协作共进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感谢参与系统测试和研讨的同学们，我们在一次次交流碰撞中完善思路、在协作互助中攻克难题。这段并肩奋斗的时光，不仅促成了系统的完成，更留下了珍贵的青春回忆。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381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后盾支撑，温暖相伴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291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感谢家人无条件的支持与包容，为我营造了安心学习、专注创作的环境。同时向所有关心、帮助过我的师长、朋友致以最诚挚的谢意，你们的陪伴是我前行路上最温暖的光。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92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感谢各位评委老师聆听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3180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汇报到此结束，恳请各位老师批评指正，提出宝贵意见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5851</Words>
  <Application>WPS 文字</Application>
  <PresentationFormat/>
  <Paragraphs>359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宋体-简</vt:lpstr>
      <vt:lpstr>微软雅黑</vt:lpstr>
      <vt:lpstr>汉仪旗黑</vt:lpstr>
      <vt:lpstr>Arial Unicode MS</vt:lpstr>
      <vt:lpstr>Noto Sans SC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sLuca</cp:lastModifiedBy>
  <cp:revision>9</cp:revision>
  <dcterms:created xsi:type="dcterms:W3CDTF">2026-06-03T11:42:02Z</dcterms:created>
  <dcterms:modified xsi:type="dcterms:W3CDTF">2026-06-03T11:42:02Z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{"Label":"1","ContentProducer":"001191110102MACQD9K64010000","ProduceID":"7646781073938943157","ReservedCode1":"","ContentPropagator":"","PropagateID":"","ReservedCode2":""}</vt:lpwstr>
  </property>
  <property fmtid="{D5CDD505-2E9C-101B-9397-08002B2CF9AE}" pid="3" name="ICV">
    <vt:lpwstr>D8F1D6FC517E2CD819D31E6A7B3CEEBF_42</vt:lpwstr>
  </property>
  <property fmtid="{D5CDD505-2E9C-101B-9397-08002B2CF9AE}" pid="4" name="KSOProductBuildVer">
    <vt:lpwstr>2052-12.1.23155.23155</vt:lpwstr>
  </property>
</Properties>
</file>